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45720" cy="6858000"/>
          </a:xfrm>
          <a:prstGeom prst="rect">
            <a:avLst/>
          </a:prstGeom>
          <a:solidFill>
            <a:srgbClr val="15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BAKIR KHATA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6164" y="2557607"/>
            <a:ext cx="39319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A Full-Stack DBMS</a:t>
            </a:r>
            <a:r>
              <a:rPr lang="en-US" dirty="0"/>
              <a:t> </a:t>
            </a:r>
            <a:r>
              <a:rPr dirty="0"/>
              <a:t>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9D32B-604E-4326-8ED7-2524545DEF65}"/>
              </a:ext>
            </a:extLst>
          </p:cNvPr>
          <p:cNvSpPr txBox="1"/>
          <p:nvPr/>
        </p:nvSpPr>
        <p:spPr>
          <a:xfrm>
            <a:off x="274320" y="3851851"/>
            <a:ext cx="608076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Submitted by: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Rajesh Bisswas-240102039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MD Muinul Islam -240102045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Lamia Khanom-240102004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Md. Kibria -240102044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F77B81-CABB-4065-9007-E95778530E87}"/>
              </a:ext>
            </a:extLst>
          </p:cNvPr>
          <p:cNvSpPr txBox="1"/>
          <p:nvPr/>
        </p:nvSpPr>
        <p:spPr>
          <a:xfrm>
            <a:off x="5679365" y="3851851"/>
            <a:ext cx="655805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Submitted To: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Md Samsuddoha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Assistant professor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Department of Computer Science and Engineering,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University of Barishal.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4170F4-DDCB-4FC4-E79B-4B5D0817838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4D512-E7C4-BFCE-4533-AF82D8CD6DC3}"/>
              </a:ext>
            </a:extLst>
          </p:cNvPr>
          <p:cNvSpPr txBox="1"/>
          <p:nvPr/>
        </p:nvSpPr>
        <p:spPr>
          <a:xfrm>
            <a:off x="3886801" y="470779"/>
            <a:ext cx="4418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2"/>
                </a:solidFill>
              </a:rPr>
              <a:t>Contributions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45C29-0DEB-3777-D5C7-D68DEADEC22F}"/>
              </a:ext>
            </a:extLst>
          </p:cNvPr>
          <p:cNvSpPr txBox="1"/>
          <p:nvPr/>
        </p:nvSpPr>
        <p:spPr>
          <a:xfrm>
            <a:off x="537477" y="2199993"/>
            <a:ext cx="1219169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Rajesh Biswas – Frontend &amp; Java (E-mail Notification)</a:t>
            </a:r>
          </a:p>
          <a:p>
            <a:endParaRPr lang="en-US" sz="2800" dirty="0">
              <a:solidFill>
                <a:schemeClr val="bg2"/>
              </a:solidFill>
            </a:endParaRPr>
          </a:p>
          <a:p>
            <a:r>
              <a:rPr lang="en-US" sz="2800" dirty="0">
                <a:solidFill>
                  <a:schemeClr val="bg2"/>
                </a:solidFill>
              </a:rPr>
              <a:t>Muinul Islam – Database (ERD + Design) &amp; Backend (Java password Hashing)</a:t>
            </a:r>
            <a:br>
              <a:rPr lang="en-US" sz="2800" dirty="0">
                <a:solidFill>
                  <a:schemeClr val="bg2"/>
                </a:solidFill>
              </a:rPr>
            </a:br>
            <a:br>
              <a:rPr lang="en-US" sz="2800" dirty="0">
                <a:solidFill>
                  <a:schemeClr val="bg2"/>
                </a:solidFill>
              </a:rPr>
            </a:br>
            <a:r>
              <a:rPr lang="en-US" sz="2800" dirty="0">
                <a:solidFill>
                  <a:schemeClr val="bg2"/>
                </a:solidFill>
              </a:rPr>
              <a:t>Lamia Khanom – Database (SQL) &amp; Backend (Java JDBC)</a:t>
            </a:r>
            <a:br>
              <a:rPr lang="en-US" sz="2800" dirty="0">
                <a:solidFill>
                  <a:schemeClr val="bg2"/>
                </a:solidFill>
              </a:rPr>
            </a:br>
            <a:br>
              <a:rPr lang="en-US" sz="2800" dirty="0">
                <a:solidFill>
                  <a:schemeClr val="bg2"/>
                </a:solidFill>
              </a:rPr>
            </a:br>
            <a:r>
              <a:rPr lang="en-US" sz="2800" dirty="0">
                <a:solidFill>
                  <a:schemeClr val="bg2"/>
                </a:solidFill>
              </a:rPr>
              <a:t>Md Kibria – Database ( Testing ) &amp; QnA Testing.</a:t>
            </a:r>
          </a:p>
        </p:txBody>
      </p:sp>
    </p:spTree>
    <p:extLst>
      <p:ext uri="{BB962C8B-B14F-4D97-AF65-F5344CB8AC3E}">
        <p14:creationId xmlns:p14="http://schemas.microsoft.com/office/powerpoint/2010/main" val="241892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01  INTRODUCTION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CFCE7"/>
                </a:solidFill>
                <a:latin typeface="Calibri"/>
              </a:defRPr>
            </a:pPr>
            <a:r>
              <a:t>Why Bakir Khata?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6B3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People lend and borrow money informally among friends &amp; family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Paper notebooks get lost, entries are hard to search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No automatic tracking of partial repayments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Manual calculations lead to disputes and confusion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No centralized view of net balance (who owes whom)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73152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3B82F6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Digital IOU ledger — track all loans in one place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Automatic status transitions (Unpaid → Partially Paid → Settled)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Dashboard with real-time summary of total lent/borrowed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Contact management — organize people you transact with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Full repayment history with timestamps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02  FEATURES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CFCE7"/>
                </a:solidFill>
                <a:latin typeface="Calibri"/>
              </a:defRPr>
            </a:pPr>
            <a:r>
              <a:t>What Bakir Khata can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🔐 User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Register &amp;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Bcrypt password hashing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39" y="16642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👥 Contact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Add friends &amp;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3134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Email &amp; phone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569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Per-user contact lists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155448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8" y="16642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💰 Loan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8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Lent / Borrowed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8" y="23134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Amount, date, due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8" y="2569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Notes per loan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💳 Repayments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Partial repayment 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90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Auto remaining 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46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Full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39" y="40416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🔄 Auto Status &amp;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Unpaid → Partially Paid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4690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Partially Paid → Settled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59" y="4946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Email reminders for due loans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8" y="3931920"/>
            <a:ext cx="33832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78" y="40416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📊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8" y="4434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Total lent / borrowed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198" y="4690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Outstanding amounts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198" y="4946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• Net balance at a glance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03 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CFCE7"/>
                </a:solidFill>
                <a:latin typeface="Calibri"/>
              </a:defRPr>
            </a:pPr>
            <a:r>
              <a:t>Tools &amp; frameworks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HTML5 — Structure &amp; layout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Vanilla JavaScript — DOM manipulation &amp; API calls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Tailwind CSS (CDN) — Utility-first responsive styling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Custom CSS — Green + white branded theme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51760" cy="457200"/>
          </a:xfrm>
          <a:prstGeom prst="round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488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Java 17+ — Core language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com.sun.net.httpserver — Built-in lightweight HTTP server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JDBC (java.sql.*) — Direct database connectivity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Gson &amp; jBCrypt — JSON parsing and password hashing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javax.mail — Background daemon for automated HTML emails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265176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MySQL 8.0+ — Relational database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4 normalized tables with foreign keys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ENUM types for domain validation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DECIMAL(10,2) for monetary 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554480"/>
            <a:ext cx="265176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BUILD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148840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Apache Maven 3.x — Dependency management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mysql-connector-j — JDBC driver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Automated compilation &amp;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04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CFCE7"/>
                </a:solidFill>
                <a:latin typeface="Calibri"/>
              </a:defRPr>
            </a:pPr>
            <a:r>
              <a:t>Three-tier client-server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2926080" cy="2926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🖥️  FRONTEND</a:t>
            </a:r>
            <a:br/>
            <a:r>
              <a:t>(Presentation Tier)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t>HTML + JS + CSS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t>Browser-based UI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t>REST API consumer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2926080" cy="2926080"/>
          </a:xfrm>
          <a:prstGeom prst="round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⚙️  BACKEND</a:t>
            </a:r>
            <a:br/>
            <a:r>
              <a:t>(Application Tier)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t>Java HttpServer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t>Request handlers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t>Business logic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t>JDBC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011680"/>
            <a:ext cx="2926080" cy="2926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🗄️  DATABASE</a:t>
            </a:r>
            <a:br>
              <a:rPr dirty="0"/>
            </a:br>
            <a:r>
              <a:rPr dirty="0"/>
              <a:t>(Data Tier)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rPr dirty="0"/>
              <a:t>MySQL 8.0+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rPr dirty="0"/>
              <a:t>4 Tables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rPr dirty="0"/>
              <a:t>Foreign keys</a:t>
            </a:r>
          </a:p>
          <a:p>
            <a:pPr algn="ctr">
              <a:spcBef>
                <a:spcPts val="600"/>
              </a:spcBef>
              <a:defRPr sz="1300">
                <a:solidFill>
                  <a:srgbClr val="E0E0E0"/>
                </a:solidFill>
              </a:defRPr>
            </a:pPr>
            <a:r>
              <a:rPr dirty="0"/>
              <a:t>Transactions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49040" y="3108960"/>
            <a:ext cx="548640" cy="3657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7414109" y="3108960"/>
            <a:ext cx="548640" cy="3657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470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rPr dirty="0"/>
              <a:t>HTTP /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8020" y="3657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JDBC /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The frontend communicates with the backend via RESTful HTTP requests (JSON). The backend processes business logic and interacts with MySQL through JDBC prepared statements.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05  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CFCE7"/>
                </a:solidFill>
                <a:latin typeface="Calibri"/>
              </a:defRPr>
            </a:pPr>
            <a:r>
              <a:t>Entity-Relationship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49985" y="2286000"/>
            <a:ext cx="2560320" cy="411480"/>
          </a:xfrm>
          <a:prstGeom prst="round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49985" y="2697480"/>
            <a:ext cx="256032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16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66B3A"/>
                </a:solidFill>
                <a:latin typeface="Consolas"/>
              </a:defRPr>
            </a:pPr>
            <a:r>
              <a:t>user_id (PK)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full_name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email (UNIQUE)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password_hash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created_at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256032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CONTACTS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57400"/>
            <a:ext cx="2560320" cy="1234440"/>
          </a:xfrm>
          <a:prstGeom prst="rect">
            <a:avLst/>
          </a:prstGeom>
          <a:solidFill>
            <a:srgbClr val="F0F0F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2C55E"/>
                </a:solidFill>
                <a:latin typeface="Consolas"/>
              </a:defRPr>
            </a:pPr>
            <a:r>
              <a:t>contact_id (PK)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user_id (FK)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contact_name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email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phone_number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840480"/>
            <a:ext cx="25603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251960"/>
            <a:ext cx="2560320" cy="2112264"/>
          </a:xfrm>
          <a:prstGeom prst="rect">
            <a:avLst/>
          </a:prstGeom>
          <a:solidFill>
            <a:srgbClr val="F0F0F0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3B82F6"/>
                </a:solidFill>
                <a:latin typeface="Consolas"/>
              </a:defRPr>
            </a:pPr>
            <a:r>
              <a:t>loan_id (PK)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user_id (FK)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contact_id (FK)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loan_type (ENUM)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amount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loan_date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due_date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status (ENUM)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743200"/>
            <a:ext cx="256032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REPAYMENTS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154680"/>
            <a:ext cx="2560320" cy="1014984"/>
          </a:xfrm>
          <a:prstGeom prst="rect">
            <a:avLst/>
          </a:prstGeom>
          <a:solidFill>
            <a:srgbClr val="F0F0F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repayment_id (PK)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loan_id (FK)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amount_paid</a:t>
            </a:r>
          </a:p>
          <a:p>
            <a:pPr>
              <a:defRPr sz="1000">
                <a:solidFill>
                  <a:srgbClr val="333333"/>
                </a:solidFill>
                <a:latin typeface="Consolas"/>
              </a:defRPr>
            </a:pPr>
            <a:r>
              <a:t>payment_date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6B3A"/>
                </a:solidFill>
                <a:latin typeface="Calibri"/>
              </a:defRPr>
            </a:pPr>
            <a:r>
              <a:t>1 :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6B3A"/>
                </a:solidFill>
                <a:latin typeface="Calibri"/>
              </a:defRPr>
            </a:pPr>
            <a:r>
              <a:t>1 :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6B3A"/>
                </a:solidFill>
                <a:latin typeface="Calibri"/>
              </a:defRPr>
            </a:pPr>
            <a:r>
              <a:t>1 :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6B3A"/>
                </a:solidFill>
                <a:latin typeface="Calibri"/>
              </a:defRPr>
            </a:pPr>
            <a:r>
              <a:t>1 : 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06  SCHEMA &amp; TABLE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CFCE7"/>
                </a:solidFill>
                <a:latin typeface="Calibri"/>
              </a:defRPr>
            </a:pPr>
            <a:r>
              <a:t>SQL DDL — schema.sql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7406" y="1207949"/>
            <a:ext cx="11371152" cy="5650051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E3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024128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rPr sz="800" dirty="0"/>
              <a:t>CREATE DATABASE IF NOT EXISTS </a:t>
            </a:r>
            <a:r>
              <a:rPr sz="800" dirty="0" err="1"/>
              <a:t>personal_ledger</a:t>
            </a:r>
            <a:r>
              <a:rPr sz="800" dirty="0"/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rPr sz="800" dirty="0"/>
              <a:t>USE </a:t>
            </a:r>
            <a:r>
              <a:rPr sz="800" dirty="0" err="1"/>
              <a:t>personal_ledger</a:t>
            </a:r>
            <a:r>
              <a:rPr sz="800" dirty="0"/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endParaRPr sz="800" dirty="0"/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rPr sz="800" dirty="0"/>
              <a:t>CREATE TABLE users 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user_id</a:t>
            </a:r>
            <a:r>
              <a:rPr sz="800" dirty="0"/>
              <a:t> INT AUTO_INCREMENT PRIMARY KEY,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full_name</a:t>
            </a:r>
            <a:r>
              <a:rPr sz="800" dirty="0"/>
              <a:t> VARCHAR(100)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email VARCHAR(100) UNIQUE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password_hash</a:t>
            </a:r>
            <a:r>
              <a:rPr sz="800" dirty="0"/>
              <a:t> VARCHAR(255)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created_at</a:t>
            </a:r>
            <a:r>
              <a:rPr sz="800" dirty="0"/>
              <a:t> TIMESTAMP DEFAULT CURRENT_TIMESTAMP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endParaRPr sz="800" dirty="0"/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rPr sz="800" dirty="0"/>
              <a:t>CREATE TABLE contacts 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contact_id</a:t>
            </a:r>
            <a:r>
              <a:rPr sz="800" dirty="0"/>
              <a:t> INT AUTO_INCREMENT PRIMARY KEY,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user_id</a:t>
            </a:r>
            <a:r>
              <a:rPr sz="800" dirty="0"/>
              <a:t> INT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contact_name</a:t>
            </a:r>
            <a:r>
              <a:rPr sz="800" dirty="0"/>
              <a:t> VARCHAR(100)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email VARCHAR(100),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phone_number</a:t>
            </a:r>
            <a:r>
              <a:rPr sz="800" dirty="0"/>
              <a:t> VARCHAR(15),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6DB74"/>
                </a:solidFill>
                <a:latin typeface="Consolas"/>
              </a:defRPr>
            </a:pPr>
            <a:r>
              <a:rPr sz="800" dirty="0"/>
              <a:t>    FOREIGN KEY (</a:t>
            </a:r>
            <a:r>
              <a:rPr sz="800" dirty="0" err="1"/>
              <a:t>user_id</a:t>
            </a:r>
            <a:r>
              <a:rPr sz="800" dirty="0"/>
              <a:t>) REFERENCES users(</a:t>
            </a:r>
            <a:r>
              <a:rPr sz="800" dirty="0" err="1"/>
              <a:t>user_id</a:t>
            </a:r>
            <a:r>
              <a:rPr sz="800" dirty="0"/>
              <a:t>) ON DELETE CASCADE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endParaRPr sz="800" dirty="0"/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rPr sz="800" dirty="0"/>
              <a:t>CREATE TABLE loans 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loan_id</a:t>
            </a:r>
            <a:r>
              <a:rPr sz="800" dirty="0"/>
              <a:t> INT AUTO_INCREMENT PRIMARY KEY,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user_id</a:t>
            </a:r>
            <a:r>
              <a:rPr sz="800" dirty="0"/>
              <a:t> INT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contact_id</a:t>
            </a:r>
            <a:r>
              <a:rPr sz="800" dirty="0"/>
              <a:t> INT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loan_type</a:t>
            </a:r>
            <a:r>
              <a:rPr sz="800" dirty="0"/>
              <a:t> ENUM('</a:t>
            </a:r>
            <a:r>
              <a:rPr sz="800" dirty="0" err="1"/>
              <a:t>Lent','Borrowed</a:t>
            </a:r>
            <a:r>
              <a:rPr sz="800" dirty="0"/>
              <a:t>')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amount DECIMAL(10,2)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loan_date</a:t>
            </a:r>
            <a:r>
              <a:rPr sz="800" dirty="0"/>
              <a:t> DATE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due_date</a:t>
            </a:r>
            <a:r>
              <a:rPr sz="800" dirty="0"/>
              <a:t> DATE,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status ENUM('</a:t>
            </a:r>
            <a:r>
              <a:rPr sz="800" dirty="0" err="1"/>
              <a:t>Unpaid','Partially</a:t>
            </a:r>
            <a:r>
              <a:rPr sz="800" dirty="0"/>
              <a:t> </a:t>
            </a:r>
            <a:r>
              <a:rPr sz="800" dirty="0" err="1"/>
              <a:t>Paid','Settled</a:t>
            </a:r>
            <a:r>
              <a:rPr sz="800" dirty="0"/>
              <a:t>') DEFAULT 'Unpaid',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notes TEXT,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6DB74"/>
                </a:solidFill>
                <a:latin typeface="Consolas"/>
              </a:defRPr>
            </a:pPr>
            <a:r>
              <a:rPr sz="800" dirty="0"/>
              <a:t>    FOREIGN KEY (</a:t>
            </a:r>
            <a:r>
              <a:rPr sz="800" dirty="0" err="1"/>
              <a:t>user_id</a:t>
            </a:r>
            <a:r>
              <a:rPr sz="800" dirty="0"/>
              <a:t>) REFERENCES users(</a:t>
            </a:r>
            <a:r>
              <a:rPr sz="800" dirty="0" err="1"/>
              <a:t>user_id</a:t>
            </a:r>
            <a:r>
              <a:rPr sz="800" dirty="0"/>
              <a:t>) ON DELETE CASCADE,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6DB74"/>
                </a:solidFill>
                <a:latin typeface="Consolas"/>
              </a:defRPr>
            </a:pPr>
            <a:r>
              <a:rPr sz="800" dirty="0"/>
              <a:t>    FOREIGN KEY (</a:t>
            </a:r>
            <a:r>
              <a:rPr sz="800" dirty="0" err="1"/>
              <a:t>contact_id</a:t>
            </a:r>
            <a:r>
              <a:rPr sz="800" dirty="0"/>
              <a:t>) REFERENCES contacts(</a:t>
            </a:r>
            <a:r>
              <a:rPr sz="800" dirty="0" err="1"/>
              <a:t>contact_id</a:t>
            </a:r>
            <a:r>
              <a:rPr sz="800" dirty="0"/>
              <a:t>) ON DELETE CASCADE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endParaRPr sz="800" dirty="0"/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A6E22E"/>
                </a:solidFill>
                <a:latin typeface="Consolas"/>
              </a:defRPr>
            </a:pPr>
            <a:r>
              <a:rPr sz="800" dirty="0"/>
              <a:t>CREATE TABLE repayments 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repayment_id</a:t>
            </a:r>
            <a:r>
              <a:rPr sz="800" dirty="0"/>
              <a:t> INT AUTO_INCREMENT PRIMARY KEY,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loan_id</a:t>
            </a:r>
            <a:r>
              <a:rPr sz="800" dirty="0"/>
              <a:t> INT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amount_paid</a:t>
            </a:r>
            <a:r>
              <a:rPr sz="800" dirty="0"/>
              <a:t> DECIMAL(10,2) NOT NULL,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    </a:t>
            </a:r>
            <a:r>
              <a:rPr sz="800" dirty="0" err="1"/>
              <a:t>payment_date</a:t>
            </a:r>
            <a:r>
              <a:rPr sz="800" dirty="0"/>
              <a:t> TIMESTAMP DEFAULT CURRENT_TIMESTAMP,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E6DB74"/>
                </a:solidFill>
                <a:latin typeface="Consolas"/>
              </a:defRPr>
            </a:pPr>
            <a:r>
              <a:rPr sz="800" dirty="0"/>
              <a:t>    FOREIGN KEY (</a:t>
            </a:r>
            <a:r>
              <a:rPr sz="800" dirty="0" err="1"/>
              <a:t>loan_id</a:t>
            </a:r>
            <a:r>
              <a:rPr sz="800" dirty="0"/>
              <a:t>) REFERENCES loans(</a:t>
            </a:r>
            <a:r>
              <a:rPr sz="800" dirty="0" err="1"/>
              <a:t>loan_id</a:t>
            </a:r>
            <a:r>
              <a:rPr sz="800" dirty="0"/>
              <a:t>) ON DELETE CASCADE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F8F8F2"/>
                </a:solidFill>
                <a:latin typeface="Consolas"/>
              </a:defRPr>
            </a:pPr>
            <a:r>
              <a:rPr sz="800" dirty="0"/>
              <a:t>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07  BACKEND — JAVA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DCFCE7"/>
                </a:solidFill>
                <a:latin typeface="Calibri"/>
              </a:defRPr>
            </a:pPr>
            <a:r>
              <a:t>Pure Java HTTP server with handler-based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Main.java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Entry point — starts HttpServer on port 9090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1219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Creates routing contexts: /api/auth, /api/contacts, etc.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9456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Runs DueLoanNotifier background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6642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DatabaseHelper.java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Singleton design pattern for DB connections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692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JDBC connection to MySQL (personal_ledger)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579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Centralized getConnection() method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642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AuthHandler.java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POST /api/auth — handles register &amp;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134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Bcrypt password hashing (jBCrypt)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5694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Prepared statements prevent SQL injection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2336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133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ContactHandler &amp;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ContactHandler — manage contacts with email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0000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NotificationService — sends HTML emails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887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DueLoanNotifier — automated daily checks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02336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26280" y="4133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LoanHandler.java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50817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GET /api/loans — fetch loans with INNER JOIN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4568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• Correlated subquery for repayment totals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8360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POST /api/loans — create new loan record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02336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4133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E11D48"/>
                </a:solidFill>
                <a:latin typeface="Calibri"/>
              </a:defRPr>
            </a:pPr>
            <a:r>
              <a:t>RepaymentHandler.java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• POST — log repayment with DB transaction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782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SELECT ... FOR UPDATE (pessimistic locking)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  SECURITY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🔒  SQL Injection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All database queries use JDBC PreparedStatement with parameterized placeholders (?) — user input is never concatenated into SQL strings.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🔑  Bcrypt Password 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Passwords are hashed with jBCrypt before storage. Each password gets a unique random salt, making rainbow table attacks infeasible.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⚡  Database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6118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Critical operations (repayment logging) use manual JDBC transactions with setAutoCommit(false), commit(), and rollback() — ensuring atomicity.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66B3A"/>
                </a:solidFill>
                <a:latin typeface="Calibri"/>
              </a:defRPr>
            </a:pPr>
            <a:r>
              <a:t>📊  DECIMAL for 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Monetary values use DECIMAL(10,2) — avoids floating-point rounding errors that would occur with FLOAT/DOUBLE.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45720" cy="6858000"/>
          </a:xfrm>
          <a:prstGeom prst="rect">
            <a:avLst/>
          </a:prstGeom>
          <a:solidFill>
            <a:srgbClr val="15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353" y="2367479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2553" y="3373319"/>
            <a:ext cx="39319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739079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DCFCE7"/>
                </a:solidFill>
                <a:latin typeface="Calibri"/>
              </a:defRPr>
            </a:pPr>
            <a:r>
              <a:rPr dirty="0"/>
              <a:t>Bakir Khata — Personal </a:t>
            </a:r>
            <a:r>
              <a:rPr lang="en-US" dirty="0"/>
              <a:t>Loan Tracking </a:t>
            </a:r>
            <a:r>
              <a:rPr dirty="0"/>
              <a:t>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1279</Words>
  <Application>Microsoft Office PowerPoint</Application>
  <PresentationFormat>Widescreen</PresentationFormat>
  <Paragraphs>208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Rajesh Biswas</cp:lastModifiedBy>
  <cp:revision>10</cp:revision>
  <dcterms:created xsi:type="dcterms:W3CDTF">2013-01-27T09:14:16Z</dcterms:created>
  <dcterms:modified xsi:type="dcterms:W3CDTF">2026-06-20T19:17:57Z</dcterms:modified>
  <cp:category/>
</cp:coreProperties>
</file>